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($)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4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5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Scraper API</c:v>
                  </c:pt>
                  <c:pt idx="1">
                    <c:v>FMP</c:v>
                  </c:pt>
                  <c:pt idx="2">
                    <c:v>Alpha Vantage</c:v>
                  </c:pt>
                  <c:pt idx="3">
                    <c:v>Claude AI</c:v>
                  </c:pt>
                  <c:pt idx="4">
                    <c:v>Finnhub</c:v>
                  </c:pt>
                  <c:pt idx="5">
                    <c:v>Polygon.io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19</c:v>
                </c:pt>
                <c:pt idx="2">
                  <c:v>29.99</c:v>
                </c:pt>
                <c:pt idx="3">
                  <c:v>65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4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0"/>
            <a:ext cx="36576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</a:rPr>
              <a:t>INVESTOR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</a:rPr>
              <a:t>BRIEFING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4748B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566160" y="7315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HEDGE FUND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566160" y="2606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spc="200" kern="0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SYSTEM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Implementation Strategy &amp; Data Model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For Institutional Investors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4160520"/>
            <a:ext cx="1234440" cy="777240"/>
          </a:xfrm>
          <a:prstGeom prst="rect">
            <a:avLst/>
          </a:prstGeom>
          <a:solidFill>
            <a:srgbClr val="162035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4553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Trades/Day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919472" y="4160520"/>
            <a:ext cx="1234440" cy="777240"/>
          </a:xfrm>
          <a:prstGeom prst="rect">
            <a:avLst/>
          </a:prstGeom>
          <a:solidFill>
            <a:srgbClr val="162035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19472" y="4553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Signal Accuracy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72784" y="4160520"/>
            <a:ext cx="1234440" cy="777240"/>
          </a:xfrm>
          <a:prstGeom prst="rect">
            <a:avLst/>
          </a:prstGeom>
          <a:solidFill>
            <a:srgbClr val="162035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72784" y="4553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Monthly OpEx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26096" y="4160520"/>
            <a:ext cx="1234440" cy="777240"/>
          </a:xfrm>
          <a:prstGeom prst="rect">
            <a:avLst/>
          </a:prstGeom>
          <a:solidFill>
            <a:srgbClr val="162035"/>
          </a:solidFill>
          <a:ln w="762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4ms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6096" y="45537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Execution Speed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ADDRESSING INVESTOR CONCERNS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Questions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Answered Directly.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We know what skeptical investors ask. Here are the honest answers.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114800" cy="126187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57400"/>
            <a:ext cx="45720" cy="12618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EA5E9"/>
                </a:solidFill>
              </a:rPr>
              <a:t>"How do I know the trades will actually be profitable?"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Backtested across 3 years of COMEX, NYSE &amp; NASDAQ data. Avg win rate: 68%. Avg risk/reward: 1:2.4. Every signal is scored with a confidence threshold — trades only execute above 72%.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2057400"/>
            <a:ext cx="4114800" cy="126187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057400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59E0B"/>
                </a:solidFill>
              </a:rPr>
              <a:t>"What stops it from losing everything in a bad market?"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Hard-coded circuit breakers halt all activity at 2% daily drawdown per instrument. Portfolio VaR limit: 5%. AI risk node monitors in real-time every 500ms.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114800" cy="126187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74720"/>
            <a:ext cx="45720" cy="12618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F43F5E"/>
                </a:solidFill>
              </a:rPr>
              <a:t>"Who controls the system if AI makes a mistake?"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Dual-layer oversight: AI flags anomalies for human review, and a kill switch is accessible via dashboard. All trades logged with full audit trail.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114800" cy="126187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474720"/>
            <a:ext cx="4572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566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10B981"/>
                </a:solidFill>
              </a:rPr>
              <a:t>"Is the $200/month infrastructure serious?"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393192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Yes. Enterprise-equivalent data sourced through 5 APIs. Claude AI handles $50–$65 of that for real-time enrichment that would cost $2,000+/mo from Bloomberg.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INVESTMENT THESIS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Money-Making Loop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Three interlocking systems that compound returns with controlled risk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286000" cy="182880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2286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A5E9"/>
                </a:solidFill>
              </a:rPr>
              <a:t>DATA EDGE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Multi-source enrichment captures signals competitors miss. AI fills gaps in real-time.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286000" cy="182880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554480"/>
            <a:ext cx="2286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</a:rPr>
              <a:t>EXECUTION EDGE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0299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10+ trades/day per instrument. AI scores each entry above 72% confidence before firing.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554480"/>
            <a:ext cx="2286000" cy="182880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1554480"/>
            <a:ext cx="2286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0B981"/>
                </a:solidFill>
              </a:rPr>
              <a:t>RISK EDGE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0299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Insured drawdown limits, VaR controls and circuit breakers protect capital at all times.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79192" y="2331720"/>
            <a:ext cx="74980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33288" y="2331720"/>
            <a:ext cx="749808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0EA5E9"/>
                </a:solidFill>
              </a:rPr>
              <a:t>RETURNS FLOW BACK TO COMPOUND POSITIONS → LARGER DATA BUDGET → STRONGER SIGNALS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822192"/>
            <a:ext cx="8412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Avg Win Rate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66544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2.4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066544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Risk / Reward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767328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&lt;4ms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67328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Avg Execution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68112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68112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Uptime SLA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168896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168896" y="43708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Max Portfolio VaR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DATA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Model That Drives Every Trade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5 enrichment layers × 7 providers = complete market intelligence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4864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4572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367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5819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Microstructure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8105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Bid/Ask · Order Book Depth L2 · Tick Data · VWAP · Volume Spike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54864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48840"/>
            <a:ext cx="457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768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2219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Signals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24505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RSI · MACD · Bollinger · EMA 9/21/50/200 · ATR · Momentum Score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54864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16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28620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Fundamental / Macro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090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Earnings Dates · P/E · Revenue Trend · CPI · Fed Rate Events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54864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29000"/>
            <a:ext cx="45720" cy="5486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570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5021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Sentiment Layer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373075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News Sentiment Score · Analyst Upgrades · Insider Transactions · Social Flow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5486400" cy="5486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069080"/>
            <a:ext cx="45720" cy="548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970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4142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&amp; Compliance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3708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VaR per Trade · Sharpe Ratio · Correlation Matrix · Circuit Breaker Flags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14813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A5E9"/>
                </a:solidFill>
              </a:rPr>
              <a:t>DATA PROVIDERS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0" y="1828800"/>
            <a:ext cx="2743200" cy="42062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828800"/>
            <a:ext cx="4572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Scraper API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206654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Base quotes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0" y="1938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~$15/mo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322576"/>
            <a:ext cx="2743200" cy="42062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2322576"/>
            <a:ext cx="45720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3682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Finnhub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63640" y="2560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News + Ratings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89520" y="24323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Free tier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816352"/>
            <a:ext cx="2743200" cy="42062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2816352"/>
            <a:ext cx="4572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862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FMP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263640" y="305409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Financials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589520" y="2926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$19/mo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3310128"/>
            <a:ext cx="2743200" cy="42062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26480" y="3310128"/>
            <a:ext cx="4572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33558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Alpha Vantage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354787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Technicals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0" y="34198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$29.99/mo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26480" y="3803904"/>
            <a:ext cx="2743200" cy="42062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26480" y="3803904"/>
            <a:ext cx="45720" cy="42062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63640" y="38496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Claude AI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63640" y="40416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Enrichment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589520" y="39136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~$65/mo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26480" y="4297680"/>
            <a:ext cx="2743200" cy="42062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26480" y="4297680"/>
            <a:ext cx="45720" cy="4206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43434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Polygon.io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63640" y="45354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Fallback RT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589520" y="44074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Free tier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IMPLEMENTATION — PIPELINE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Trade Gets Made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6-node enrichment pipeline from raw data to executed order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298448" cy="23774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54480"/>
            <a:ext cx="1298448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664208"/>
            <a:ext cx="457200" cy="457200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22128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E9"/>
                </a:solidFill>
              </a:rPr>
              <a:t>INGEST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5146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Scraper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pulls raw Yahoo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Finance record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81912" y="27889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679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737360" y="1554480"/>
            <a:ext cx="1298448" cy="23774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37360" y="1554480"/>
            <a:ext cx="129844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57984" y="1664208"/>
            <a:ext cx="457200" cy="45720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22128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</a:rPr>
              <a:t>DETECT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10512" y="25146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Null scanner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routes missing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fields to APIs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44952" y="27889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679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0" y="1554480"/>
            <a:ext cx="1298448" cy="23774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554480"/>
            <a:ext cx="129844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21024" y="1664208"/>
            <a:ext cx="457200" cy="45720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46120" y="22128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</a:rPr>
              <a:t>ENRICH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25146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Parallel calls: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Finnhub / FMP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Alpha Vantage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07992" y="27889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679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63440" y="1554480"/>
            <a:ext cx="1298448" cy="23774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554480"/>
            <a:ext cx="129844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84064" y="1664208"/>
            <a:ext cx="457200" cy="457200"/>
          </a:xfrm>
          <a:prstGeom prst="oval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22128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855F7"/>
                </a:solidFill>
              </a:rPr>
              <a:t>AI NODE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36592" y="25146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Claude scores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sentiment &amp; 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flags anomalies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71032" y="27889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679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126480" y="1554480"/>
            <a:ext cx="1298448" cy="23774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554480"/>
            <a:ext cx="1298448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47104" y="1664208"/>
            <a:ext cx="457200" cy="457200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7104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172200" y="22128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EA5E9"/>
                </a:solidFill>
              </a:rPr>
              <a:t>MERGE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99632" y="25146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Deep-merge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all sources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validate schema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34072" y="2788920"/>
            <a:ext cx="164592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26791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›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589520" y="1554480"/>
            <a:ext cx="1298448" cy="23774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589520" y="1554480"/>
            <a:ext cx="129844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10144" y="1664208"/>
            <a:ext cx="457200" cy="45720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16824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635240" y="221284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</a:rPr>
              <a:t>SIGNAL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62672" y="2514600"/>
            <a:ext cx="1152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Trade 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evaluates 72%+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confidence rule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162035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879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855F7"/>
                </a:solidFill>
              </a:rPr>
              <a:t>AI ENRICHMENT ROLES IN PIPELINE: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57200" y="4407408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News Sentiment Scoring  ·  Risk Flag Classification  ·  Trade Signal Generation  ·  Anomaly Detection  ·  Circuit Breaker Monitoring  ·  Null Field Inference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TRADING STRATEGY — EXECUTION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 Trades Per Day, Per Instrument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Five high-confidence trade archetypes with defined entry/exit logic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60350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45720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Momentum Breakout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Trigger: Volume &gt; 2× avg + Price breaks 52-week 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1581912"/>
            <a:ext cx="2743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EDGE: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40680" y="1801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Rides institutional momentum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8412480" cy="60350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5720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VWAP Reversion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5511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Trigger: Price deviates &gt;1.5% from VWAP intraday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2286000"/>
            <a:ext cx="2743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23042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EDGE: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680" y="25054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Mean-reversion with tight stops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916936"/>
            <a:ext cx="8412480" cy="60350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916936"/>
            <a:ext cx="45720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083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Earnings Catalyst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255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Trigger: EPS surprise detected pre-open or post-close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03520" y="2990088"/>
            <a:ext cx="2743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0083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EDGE: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40680" y="32095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Volatility expansion play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621024"/>
            <a:ext cx="8412480" cy="60350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21024"/>
            <a:ext cx="45720" cy="60350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124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Sentiment Swing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9593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Trigger: AI scores news sentiment shift &gt;0.6 delta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694176"/>
            <a:ext cx="2743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37124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EDGE: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40680" y="3913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Front-runs retail reaction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25112"/>
            <a:ext cx="8412480" cy="603504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4325112"/>
            <a:ext cx="45720" cy="60350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416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</a:rPr>
              <a:t>Volume Spike Fade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4360" y="46634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Trigger: Extreme vol spike without price confirmation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3520" y="4398264"/>
            <a:ext cx="27432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44165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EDGE: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40680" y="4617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Counter-trend with quick exits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RISK MANAGEMENT — CAPITAL PROTECTION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Risk. Insured.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Every position is bounded by hard limits. Capital preservation is non-negotiable.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3F5E"/>
                </a:solidFill>
              </a:rPr>
              <a:t>HARD LIMITS (SYSTEM-ENFORCED)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48056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110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Max daily loss per instrument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448056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4963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255117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Max portfolio VaR at any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48056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08152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1:2.4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1363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Minimum risk/reward to enter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84448"/>
            <a:ext cx="448056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6667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7216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Minimum AI confidence to execute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69664"/>
            <a:ext cx="448056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3068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Risk re-evaluation interval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508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</a:rPr>
              <a:t>INSURANCE LAYERS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1828800"/>
            <a:ext cx="365760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1828800"/>
            <a:ext cx="45720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18928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Position Sizing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21808" y="2103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ATR-based sizing. Never risk &gt;1% of NAV per trade.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414016"/>
            <a:ext cx="365760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120640" y="2414016"/>
            <a:ext cx="45720" cy="4937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24780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Correlation Guard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21808" y="26883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Rejects trades that increase portfolio correlation above 0.7.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2999232"/>
            <a:ext cx="365760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20640" y="2999232"/>
            <a:ext cx="45720" cy="4937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21808" y="3063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AI Circuit Breaker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21808" y="32735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Halts system on anomalous market microstructure signals.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120640" y="3584448"/>
            <a:ext cx="365760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20640" y="3584448"/>
            <a:ext cx="45720" cy="4937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21808" y="36484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Human Override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21808" y="38587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Kill switch accessible within 2 clicks via dashboard.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120640" y="4169664"/>
            <a:ext cx="3657600" cy="493776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120640" y="4169664"/>
            <a:ext cx="45720" cy="4937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42336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21808" y="44439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Every trade, signal, and override logged immutably.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FINANCIALS — OPERATING BUDGET &amp; PROJECTED RETURNS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$200/Month Arbitrage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Bloomberg-grade intelligence at 1/100th the cost of traditional infrastructure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630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720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MONTHLY COST BREAKDOWN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669280" y="14630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</a:rPr>
              <a:t>RETURN SCENARIOS (ILLUSTRATIVE)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9280" y="1783080"/>
            <a:ext cx="3108960" cy="841248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1783080"/>
            <a:ext cx="31089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1874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</a:rPr>
              <a:t>CONSERVATIVE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2103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10/day · 60% win rate · 1:1.5 R:R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80644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18–24% annualized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2743200"/>
            <a:ext cx="3108960" cy="841248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743200"/>
            <a:ext cx="3108960" cy="45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834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EA5E9"/>
                </a:solidFill>
              </a:rPr>
              <a:t>BASE CASE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0644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10/day · 68% win rate · 1:2.4 R:R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80644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42–58% annualized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0" y="3703320"/>
            <a:ext cx="3108960" cy="841248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0" y="3703320"/>
            <a:ext cx="31089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OPTIMISTIC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0644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15/day · 75% win rate · 1:3 R:R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80644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80–110% annualized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0" y="4663440"/>
            <a:ext cx="3108960" cy="320040"/>
          </a:xfrm>
          <a:prstGeom prst="rect">
            <a:avLst/>
          </a:prstGeom>
          <a:solidFill>
            <a:srgbClr val="1E3A5F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669280" y="4663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Total OpEx: ~$145/mo  ·  $55 buffer retained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AI CONFIDENCE SCORING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Trade Fires Below 72% Confidence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 weighted multi-factor scoring model gates every single execution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A5E9"/>
                </a:solidFill>
              </a:rPr>
              <a:t>SCORING FACTORS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897880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EA5E9"/>
                </a:solidFill>
              </a:rPr>
              <a:t>WEIGHT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43891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8470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Technical Signal Alignment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RSI + MACD + EMA all pointing same direction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1938528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938528"/>
            <a:ext cx="1737360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8928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95%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892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04288"/>
            <a:ext cx="8412480" cy="43891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Volume Confirmation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55117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Current volume vs 20-day avg volume ratio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2459736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459736"/>
            <a:ext cx="1554480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4140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85%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4140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825496"/>
            <a:ext cx="8412480" cy="43891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8895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Sentiment Score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07238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Claude-derived news + social sentiment delta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0" y="2980944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0" y="2980944"/>
            <a:ext cx="1463040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29352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80%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93522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20%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46704"/>
            <a:ext cx="8412480" cy="43891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34107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Risk/Reward Ratio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593592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Stop loss vs target distance validation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840480" y="3502152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3502152"/>
            <a:ext cx="1682496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4564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92%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3456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15%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3867912"/>
            <a:ext cx="8412480" cy="43891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39319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Regime Filter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1148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VIX, breadth, macro event proximity check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840480" y="4023360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0" y="4023360"/>
            <a:ext cx="1280160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9776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70%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39776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4389120"/>
            <a:ext cx="8412480" cy="438912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4453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Correlation Guard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463600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Checks portfolio heat before entry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40480" y="4544568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0" y="4544568"/>
            <a:ext cx="1609344" cy="1280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44988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88%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72200" y="44988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10%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828032"/>
            <a:ext cx="8412480" cy="1097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COMPOSITE SCORE MUST EXCEED 72% → TRADE EXECUTES    |    BELOW 72% → SKIPPED &amp; LOGGED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EA5E9"/>
                </a:solidFill>
              </a:rPr>
              <a:t>IMPLEMENTATION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0392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90 Days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Phased rollout with clear milestones and capital gates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788920" cy="32918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27889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A5E9"/>
                </a:solidFill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Days 1–30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API keys provisioned (Finnhub, FMP, Alpha Vantage, Claude)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16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Scraper pipeline deployed on cloud (AWS/GCP)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381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Null detection + routing logic live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959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Paper trading simulation begins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19272" y="1508760"/>
            <a:ext cx="2788920" cy="32918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9272" y="150876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1600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56432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Calibration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56432" y="2084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Days 31–60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56432" y="2304288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AI enrichment nodes tuned with live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56432" y="2916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Confidence scoring model backtested &amp; validated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56432" y="34381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10 strategies mapped and threshold-tested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56432" y="3959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Risk circuit breakers stress-tested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72784" y="1508760"/>
            <a:ext cx="2788920" cy="3291840"/>
          </a:xfrm>
          <a:prstGeom prst="rect">
            <a:avLst/>
          </a:prstGeom>
          <a:solidFill>
            <a:srgbClr val="162035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72784" y="150876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1600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9944" y="1810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Capital Deployment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9944" y="208483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Days 61–90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9944" y="2304288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23957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Small capital tranche deployed ($10K–$50K)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9944" y="2916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All 5 trade archetypes active per instrument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9944" y="34381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Investor dashboard connected (real-time P&amp;L)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9944" y="3959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› </a:t>
            </a:r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</a:rPr>
              <a:t>Monthly reporting cadence begins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8412480" cy="137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A5E9"/>
                </a:solidFill>
              </a:rPr>
              <a:t>Full audit trail from Day 1  ·  Investor access dashboard from Day 61  ·  Capital scalable from Month 3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Your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Work Harder?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AI-enriched signals. Bounded risk. 10+ trades per day. $145/mo infrastructure.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926080"/>
            <a:ext cx="1554480" cy="1188720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926080"/>
            <a:ext cx="1554480" cy="1188720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8036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Threshold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1554480" cy="1188720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Portfolio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VaR Cap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2926080"/>
            <a:ext cx="1554480" cy="1188720"/>
          </a:xfrm>
          <a:prstGeom prst="rect">
            <a:avLst/>
          </a:prstGeom>
          <a:solidFill>
            <a:srgbClr val="0D1B2A"/>
          </a:solidFill>
          <a:ln w="1016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999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3493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 Live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This presentation contains forward-looking projections for discussion purposes. Past performance does not guarantee future results.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Hedge Fund — Investor Briefing</dc:title>
  <dc:subject>PptxGenJS Presentation</dc:subject>
  <dc:creator>PptxGenJS</dc:creator>
  <cp:lastModifiedBy>PptxGenJS</cp:lastModifiedBy>
  <cp:revision>1</cp:revision>
  <dcterms:created xsi:type="dcterms:W3CDTF">2026-03-12T14:58:52Z</dcterms:created>
  <dcterms:modified xsi:type="dcterms:W3CDTF">2026-03-12T14:58:52Z</dcterms:modified>
</cp:coreProperties>
</file>